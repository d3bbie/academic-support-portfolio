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6400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5A5A5A"/>
                </a:solidFill>
                <a:latin typeface="Aptos"/>
              </a:defRPr>
            </a:pPr>
            <a:r>
              <a:t>Eziechine Deborah | Online Science Tutoring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46520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5A5A5A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23444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  <a:latin typeface="Aptos"/>
              </a:defRPr>
            </a:pPr>
            <a:r>
              <a:t>Healthy Teeth and Oral Hygiene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01168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solidFill>
                  <a:srgbClr val="464646"/>
                </a:solidFill>
                <a:latin typeface="Aptos"/>
              </a:defRPr>
            </a:pPr>
            <a:r>
              <a:t>Science lesson for secondary-school learners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926080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0">
                <a:solidFill>
                  <a:srgbClr val="1F4E79"/>
                </a:solidFill>
                <a:latin typeface="Aptos"/>
              </a:defRPr>
            </a:pPr>
            <a:r>
              <a:t>Learning goal: Explain how everyday oral-hygiene habits help prevent tooth decay and gum disease.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6400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5A5A5A"/>
                </a:solidFill>
                <a:latin typeface="Aptos"/>
              </a:defRPr>
            </a:pPr>
            <a:r>
              <a:t>Eziechine Deborah | Online Science Tutoring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46520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5A5A5A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85800"/>
            <a:ext cx="6400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4E79"/>
                </a:solidFill>
                <a:latin typeface="Aptos"/>
              </a:defRPr>
            </a:pPr>
            <a:r>
              <a:t>What is plaque?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17320"/>
            <a:ext cx="6583680" cy="3108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0">
                <a:solidFill>
                  <a:srgbClr val="2D2D2D"/>
                </a:solidFill>
                <a:latin typeface="Aptos"/>
              </a:defRPr>
            </a:pPr>
            <a:r>
              <a:t>Plaque is a soft, sticky film of bacteria that forms on teeth.</a:t>
            </a:r>
            <a:br/>
            <a:br/>
            <a:r>
              <a:t>When plaque mixes with sugars from food and drinks, bacteria can produce acids. These acids may damage enamel and lead to tooth decay.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0" y="1920240"/>
            <a:ext cx="347472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F4E79"/>
                </a:solidFill>
                <a:latin typeface="Aptos"/>
              </a:defRPr>
            </a:pPr>
            <a:r>
              <a:t>Key word: Enamel = the hard outer protective layer of a tooth.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6400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5A5A5A"/>
                </a:solidFill>
                <a:latin typeface="Aptos"/>
              </a:defRPr>
            </a:pPr>
            <a:r>
              <a:t>Eziechine Deborah | Online Science Tutoring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46520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5A5A5A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85800"/>
            <a:ext cx="7315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4E79"/>
                </a:solidFill>
                <a:latin typeface="Aptos"/>
              </a:defRPr>
            </a:pPr>
            <a:r>
              <a:t>How to brush effectively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417320"/>
            <a:ext cx="9784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0">
                <a:solidFill>
                  <a:srgbClr val="2D2D2D"/>
                </a:solidFill>
                <a:latin typeface="Aptos"/>
              </a:defRPr>
            </a:pPr>
            <a:r>
              <a:t>1. Brush twice daily—morning and before bed.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67128"/>
            <a:ext cx="9784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0">
                <a:solidFill>
                  <a:srgbClr val="2D2D2D"/>
                </a:solidFill>
                <a:latin typeface="Aptos"/>
              </a:defRPr>
            </a:pPr>
            <a:r>
              <a:t>2. Use fluoride toothpaste when available.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16936"/>
            <a:ext cx="9784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0">
                <a:solidFill>
                  <a:srgbClr val="2D2D2D"/>
                </a:solidFill>
                <a:latin typeface="Aptos"/>
              </a:defRPr>
            </a:pPr>
            <a:r>
              <a:t>3. Use gentle circular movements at the gumline.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666744"/>
            <a:ext cx="9784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0">
                <a:solidFill>
                  <a:srgbClr val="2D2D2D"/>
                </a:solidFill>
                <a:latin typeface="Aptos"/>
              </a:defRPr>
            </a:pPr>
            <a:r>
              <a:t>4. Clean the outside, inside, and chewing surfaces.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416552"/>
            <a:ext cx="9784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0">
                <a:solidFill>
                  <a:srgbClr val="2D2D2D"/>
                </a:solidFill>
                <a:latin typeface="Aptos"/>
              </a:defRPr>
            </a:pPr>
            <a:r>
              <a:t>5. Brush for about two minutes.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6400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5A5A5A"/>
                </a:solidFill>
                <a:latin typeface="Aptos"/>
              </a:defRPr>
            </a:pPr>
            <a:r>
              <a:t>Eziechine Deborah | Online Science Tutoring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46520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5A5A5A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85800"/>
            <a:ext cx="9144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4E79"/>
                </a:solidFill>
                <a:latin typeface="Aptos"/>
              </a:defRPr>
            </a:pPr>
            <a:r>
              <a:t>Everyday choices that protect teeth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417320"/>
            <a:ext cx="9784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0">
                <a:solidFill>
                  <a:srgbClr val="2D2D2D"/>
                </a:solidFill>
                <a:latin typeface="Aptos"/>
              </a:defRPr>
            </a:pPr>
            <a:r>
              <a:t>• Choose water often instead of sweet drinks.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67128"/>
            <a:ext cx="9784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0">
                <a:solidFill>
                  <a:srgbClr val="2D2D2D"/>
                </a:solidFill>
                <a:latin typeface="Aptos"/>
              </a:defRPr>
            </a:pPr>
            <a:r>
              <a:t>• Limit frequent sugary snacks and sweets.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16936"/>
            <a:ext cx="9784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0">
                <a:solidFill>
                  <a:srgbClr val="2D2D2D"/>
                </a:solidFill>
                <a:latin typeface="Aptos"/>
              </a:defRPr>
            </a:pPr>
            <a:r>
              <a:t>• Clean between teeth daily when possible.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666744"/>
            <a:ext cx="9784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0">
                <a:solidFill>
                  <a:srgbClr val="2D2D2D"/>
                </a:solidFill>
                <a:latin typeface="Aptos"/>
              </a:defRPr>
            </a:pPr>
            <a:r>
              <a:t>• Replace a worn toothbrush.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416552"/>
            <a:ext cx="9784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0">
                <a:solidFill>
                  <a:srgbClr val="2D2D2D"/>
                </a:solidFill>
                <a:latin typeface="Aptos"/>
              </a:defRPr>
            </a:pPr>
            <a:r>
              <a:t>• See a dental professional for check-ups when possible.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6400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5A5A5A"/>
                </a:solidFill>
                <a:latin typeface="Aptos"/>
              </a:defRPr>
            </a:pPr>
            <a:r>
              <a:t>Eziechine Deborah | Online Science Tutoring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46520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5A5A5A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85800"/>
            <a:ext cx="5486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4E79"/>
                </a:solidFill>
                <a:latin typeface="Aptos"/>
              </a:defRPr>
            </a:pPr>
            <a:r>
              <a:t>Quick Check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417320"/>
            <a:ext cx="9692640" cy="3566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0">
                <a:solidFill>
                  <a:srgbClr val="2D2D2D"/>
                </a:solidFill>
                <a:latin typeface="Aptos"/>
              </a:defRPr>
            </a:pPr>
            <a:r>
              <a:t>1. What is plaque?</a:t>
            </a:r>
            <a:br/>
            <a:br/>
            <a:r>
              <a:t>2. Why can sugary drinks increase the risk of tooth decay?</a:t>
            </a:r>
            <a:br/>
            <a:br/>
            <a:r>
              <a:t>3. Name three tooth surfaces you should clean when brushing.</a:t>
            </a:r>
            <a:br/>
            <a:br/>
            <a:r>
              <a:t>4. What is one oral-hygiene habit you will practise this week?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5349240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1F4E79"/>
                </a:solidFill>
                <a:latin typeface="Aptos"/>
              </a:defRPr>
            </a:pPr>
            <a: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